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秒：我们做的是豆瓣高分影视作品的数据项目，从零写了爬虫采到 1052 部作品、4695 条短评，然后清洗、做了六屏可视化页面，最后用短评文本做了一次态度分类建模。四个人分工，每人讲一块。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这一页是全局。四个数字分别是作品、短评、建模样本、可视化页数。重点是下面那句结论 —— 我们没有把结果吹大：文本信号是真的，但很弱，后面会给出证据。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流程页：采集 → 清洗 → 可视化 → 建模。强调每一段都是独立脚本，下面这条是四个阶段的规模数字。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采集页。漏斗是 1131 → 1052 → 942 → 939，最后是 4695 条短评。右边两条通路：主通路是电脑端作品页，一页拿三样东西，这是把请求量压下来的关键。如果被问“为什么不做 1500 部”，答：1000 部是任务要求，且数据完整度更重要。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反爬页，这部分是采集同学最能讲出细节的地方。四种形态都真实遇到过，第四种（腾讯验证码）代码解不了，只能等。下面深色条是最终节奏：实测 2.0~2.1 部每分钟，整夜跑下来 0 条失败。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清洗页给出两张表的形状和具体做了什么。重点讲那两个“坑”：数据库里 year 和 votes 是文本，直接算会报错；以及 missing 和 0 必须分开，否则平均分会被拉低。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质量自检六项。如果老师问“你怎么保证数据没错”，就逐条念这六项，最后一条是抽样打开豆瓣页面逐字比对。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可视化这一屏先给全貌。强调三点：六屏可切换、全部离线、代码可以自己改。如果现场演示，就按编号顺序点一遍。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类型与年代屏。三条结论里第三条最容易讲错：2010s/2020s 平均分低是因为作品多、分母大，不是这几年片子变差了。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国家与短评两屏。这里的坑是“合拍片重复计数”：各国相加 1297 &gt; 作品 1052，所以任何按国家算占比的说法都得先说清楚口径。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这一页是全篇最有价值的。左边三个发现，右边专门留了一格讲我们自己的错误：1990s/2000s 平均分特别低，一开始以为是老片差，后来发现是分母问题 —— 这一条能体现我们真的在核对数据，而不是把图贴上去就完事。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建模任务定义页。这一页的核心是“标签选择”：原模板的 3 星以上算好评，在我们数据里是 98.4% 比 1.6%，没有区分度，所以我们换成了 5 星比 4 星及以下。这一个小改动决定了后面所有指标是否可信。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成绩单页。最好的模型是字符 2-3 gram 加逻辑回归，AUC 0.6465。但要主动说出下面那条：同片其他短评的多数票有 0.6123，比我们的文本模型还高 —— 这个诚实的结果比堆指标更能得分。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边界页是整份汇报的技术核心。左图是不同分界线的 AUC，越往右下越接近“瞎猜”；右图是混淆矩阵。结论：模型不是没用，而是“只能分开态度差距大的两类”。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特征词页。最有意思的是差评侧的词：不是骂人的话，而是“但、其实、有点、还是”这种转折句式。标签泄漏核查一定要主动说：150 条短评直接提到了星级，剔掉之后 AUC 从 0.6465 掉到 0.6425，结论不变。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收尾页。三段：做完了什么、发现了什么、哪里还能更好。最后那条是最好的对照：同一套文本，换成判题材，准确率从 60.6% 直接到 78.5%。结束语：谢谢，欢迎提问。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大数据项目综合实训 · 期末汇报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984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豆瓣高分影视作品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5798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1052 部作品的采集、清洗、可视化与文本建模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98064"/>
            <a:ext cx="3108960" cy="13716"/>
          </a:xfrm>
          <a:prstGeom prst="rect">
            <a:avLst/>
          </a:prstGeom>
          <a:solidFill>
            <a:srgbClr val="12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218688"/>
            <a:ext cx="2601468" cy="18836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3218688"/>
            <a:ext cx="260146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352958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1052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415137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影视作品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4462272"/>
            <a:ext cx="21625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候选池 1131 部，资料完整 1052 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电影 539 / 剧集 513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4468" y="3218688"/>
            <a:ext cx="2601468" cy="18836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4468" y="3218688"/>
            <a:ext cx="2601468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3924" y="352958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4695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3924" y="415137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热门短评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3924" y="4462272"/>
            <a:ext cx="21625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覆盖 939 部作品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每部固定取 5 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28816" y="3218688"/>
            <a:ext cx="2601468" cy="18836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28816" y="3218688"/>
            <a:ext cx="2601468" cy="685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352958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942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15137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含评分分布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462272"/>
            <a:ext cx="21625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五星到一星的占比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全部来自作品页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13164" y="3218688"/>
            <a:ext cx="2601468" cy="18836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13164" y="3218688"/>
            <a:ext cx="260146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2620" y="352958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7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2620" y="415137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模型横向对比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2620" y="4462272"/>
            <a:ext cx="21625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5 折交叉验证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指标全部 out-of-fold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144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汇报人：A / B / C / D　　·　　2026 年 10 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5535" y="56144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采集 · 清洗 · 可视化 · 建模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一页看懂这个项目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四个阶段各自独立可复现：采集 → 清洗 → 可视化 → 建模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2601468" cy="22677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260146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8366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1052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0545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影视作品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21625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候选池 1131 → 成品 1052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电影 539 / 剧集 513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2716" y="1572768"/>
            <a:ext cx="2601468" cy="22677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2716" y="1572768"/>
            <a:ext cx="2601468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2172" y="188366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4695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2172" y="250545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热门短评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2172" y="2816352"/>
            <a:ext cx="21625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覆盖 939 部作品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每部固定 5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572768"/>
            <a:ext cx="2601468" cy="22677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572768"/>
            <a:ext cx="2601468" cy="685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8366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4612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0545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建模样本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16352"/>
            <a:ext cx="21625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去掉未打星与空文本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5 星 57.5% / 4 星及以下 42.5%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1412" y="1572768"/>
            <a:ext cx="2601468" cy="22677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1412" y="1572768"/>
            <a:ext cx="260146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0868" y="1883664"/>
            <a:ext cx="21625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16</a:t>
            </a:r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  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868" y="2505456"/>
            <a:ext cx="2162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可视化页面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816352"/>
            <a:ext cx="21625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ECharts + HTML/CSS/JS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离线双击即可演示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114800"/>
            <a:ext cx="10874959" cy="1792224"/>
          </a:xfrm>
          <a:prstGeom prst="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114800"/>
            <a:ext cx="64008" cy="17922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352544"/>
            <a:ext cx="102165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一句话结论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773168"/>
            <a:ext cx="1021659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短评文本里确实存在“态度”信息，但弱到不足以支撑一个实用分类器 —— 最好的模型 AUC 0.647、准确率 60.6%，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只比“全部猜 5 星”的基线高 3.1 个百分点，而且没有跑赢“同片其他短评的多数票”。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四个阶段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每一段都有独立的脚本和产物，从任意一段都能重新跑通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2601468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2601468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47088"/>
            <a:ext cx="21625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32304"/>
            <a:ext cx="21625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2852928"/>
            <a:ext cx="2162556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35808"/>
            <a:ext cx="216255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免登录抓公开页面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主通路一页同时拿资料、评分分布、短评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1131 个候选 → 1052 部成品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2716" y="1572768"/>
            <a:ext cx="2601468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2716" y="1572768"/>
            <a:ext cx="2601468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2172" y="1847088"/>
            <a:ext cx="21625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2172" y="2432304"/>
            <a:ext cx="21625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清洗与特征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62172" y="2852928"/>
            <a:ext cx="2162556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2172" y="3035808"/>
            <a:ext cx="216255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两张分析表 1052×60、4695×26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类型 / 年代 / 国家结构化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文本长度、标点、情感等特征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572768"/>
            <a:ext cx="2601468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572768"/>
            <a:ext cx="2601468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847088"/>
            <a:ext cx="21625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21625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可视化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852928"/>
            <a:ext cx="2162556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035808"/>
            <a:ext cx="216255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ECharts 六屏可切换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9 张图表 + 6 张 KPI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双击离线打开，不需要服务器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1412" y="1572768"/>
            <a:ext cx="2601468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1412" y="1572768"/>
            <a:ext cx="2601468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0868" y="1847088"/>
            <a:ext cx="21625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432304"/>
            <a:ext cx="21625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文本建模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0868" y="2852928"/>
            <a:ext cx="2162556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0868" y="3035808"/>
            <a:ext cx="216255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5 折交叉验证，指标全部 out-of-fold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7 个模型横向对比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文本模型 vs 无文本基线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157216"/>
            <a:ext cx="10874959" cy="9692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5340096"/>
            <a:ext cx="181249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1131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5742431"/>
            <a:ext cx="1812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候选作品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3741" y="5340096"/>
            <a:ext cx="181249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1052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3741" y="5742431"/>
            <a:ext cx="1812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资料完整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52573" y="5376672"/>
            <a:ext cx="8229" cy="53035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6234" y="5340096"/>
            <a:ext cx="181249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942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6234" y="5742431"/>
            <a:ext cx="1812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含评分分布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5066" y="5376672"/>
            <a:ext cx="8229" cy="53035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78727" y="5340096"/>
            <a:ext cx="181249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4695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8727" y="5742431"/>
            <a:ext cx="1812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条短评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7559" y="5376672"/>
            <a:ext cx="8229" cy="53035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1220" y="5340096"/>
            <a:ext cx="181249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1220" y="5742431"/>
            <a:ext cx="1812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屏可视化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90052" y="5376672"/>
            <a:ext cx="8229" cy="53035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3714" y="5340096"/>
            <a:ext cx="181249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3714" y="5742431"/>
            <a:ext cx="18124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个模型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02546" y="5376672"/>
            <a:ext cx="8229" cy="530352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采集：从 1131 个候选到 4695 条短评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免登录、只读公开页面；主通路把请求量从约 3000 次压到约 1000 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候选池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719072"/>
            <a:ext cx="3840480" cy="329184"/>
          </a:xfrm>
          <a:prstGeom prst="rect">
            <a:avLst/>
          </a:prstGeom>
          <a:solidFill>
            <a:srgbClr val="8A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71616" y="1737360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A93A0"/>
                </a:solidFill>
                <a:latin typeface="Arial"/>
                <a:ea typeface="Arial"/>
                <a:cs typeface="Arial"/>
              </a:rPr>
              <a:t>1131 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4825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来自 9 组查询条件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资料完整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340864"/>
            <a:ext cx="3572223" cy="3291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3359" y="2359152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1052 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67004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−79 部　全部字段抓齐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含评分分布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962656"/>
            <a:ext cx="3198702" cy="32918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9838" y="2980944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942 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29184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−110 部　五星到一星的占比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39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含热门短评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584448"/>
            <a:ext cx="3188515" cy="32918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9651" y="3602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939 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1363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−3 部　每部 5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06240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Arial"/>
                <a:ea typeface="Arial"/>
                <a:cs typeface="Arial"/>
              </a:rPr>
              <a:t>→ 4695 条短评</a:t>
            </a: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（939 部 × 每部 5 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645152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漏斗只画作品数（1131 → 939），不把 4695 条短评按比例放大 —— 作品数和短评数是两个量级不同的单位，放大就是失真。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175504"/>
            <a:ext cx="6309360" cy="10607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21808"/>
            <a:ext cx="5833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采集工程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632704"/>
            <a:ext cx="5833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进度全部落 SQLite，断点续爬自动跳过已完成；导出 CSV / Excel 用 UTF-8 BOM，双击不乱码。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87768" y="1572768"/>
            <a:ext cx="4245559" cy="2240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2" y="1773936"/>
            <a:ext cx="3770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主通路：电脑端作品页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2121408"/>
            <a:ext cx="377007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54D55"/>
                </a:solidFill>
                <a:latin typeface="Consolas"/>
                <a:ea typeface="Consolas"/>
                <a:cs typeface="Consolas"/>
              </a:rPr>
              <a:t>movie.douban.com/subject/&lt;id&gt;/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5512" y="2505456"/>
            <a:ext cx="37700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一页同时给出：全部资料 + 五星到一星的占比 + 约 5 条热门短评。</a:t>
            </a:r>
          </a:p>
          <a:p>
            <a:pPr algn="l">
              <a:lnSpc>
                <a:spcPct val="145000"/>
              </a:lnSpc>
            </a:pPr>
            <a:r>
              <a:rPr sz="11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把请求量从约 3000 次压到约 1000 次。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7768" y="3977639"/>
            <a:ext cx="4245559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5512" y="4178808"/>
            <a:ext cx="3770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辅助：手机端详情接口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12" y="4526280"/>
            <a:ext cx="377007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54D55"/>
                </a:solidFill>
                <a:latin typeface="Consolas"/>
                <a:ea typeface="Consolas"/>
                <a:cs typeface="Consolas"/>
              </a:rPr>
              <a:t>m.douban.com/rexxar/api/v2/movie/&lt;id&gt;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4910328"/>
            <a:ext cx="37700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返回 30 多个字段的 JSON，但会按 IP 限流，所以只做补充。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四种反爬，和把它们驯服下来的节奏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全部是实测遇到的真实形态，不是文档推测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2601468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2601468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92224"/>
            <a:ext cx="21991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Arial"/>
                <a:ea typeface="Arial"/>
                <a:cs typeface="Arial"/>
              </a:rPr>
              <a:t>01</a:t>
            </a:r>
            <a:r>
              <a:rPr sz="13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  IP 限流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12848"/>
            <a:ext cx="219913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HTTP 400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body 里 code=1309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subject_ip_rate_limit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整台机器一段时间内被拒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2716" y="1572768"/>
            <a:ext cx="2601468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2716" y="1572768"/>
            <a:ext cx="2601468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3884" y="1792224"/>
            <a:ext cx="21991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</a:t>
            </a:r>
            <a:r>
              <a:rPr sz="13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  全站 403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3884" y="2212848"/>
            <a:ext cx="219913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连首页都打不开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持续 30 分钟以上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换出口 IP 后立刻恢复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不能猛试探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572768"/>
            <a:ext cx="2601468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572768"/>
            <a:ext cx="2601468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792224"/>
            <a:ext cx="21991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03</a:t>
            </a:r>
            <a:r>
              <a:rPr sz="13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  工作量证明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212848"/>
            <a:ext cx="219913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sha512 挑战页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要算 nonce 让哈希前缀为 0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POST 时不能带 Origin 头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带了直接 403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1412" y="1572768"/>
            <a:ext cx="2601468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1412" y="1572768"/>
            <a:ext cx="2601468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2580" y="1792224"/>
            <a:ext cx="21991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04</a:t>
            </a:r>
            <a:r>
              <a:rPr sz="13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  验证码墙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2212848"/>
            <a:ext cx="219913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腾讯 TCaptcha「禁止访问」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1041 字节的空壳页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代码解不了</a:t>
            </a:r>
          </a:p>
          <a:p>
            <a:pPr algn="l">
              <a:lnSpc>
                <a:spcPct val="142000"/>
              </a:lnSpc>
              <a:spcAft>
                <a:spcPts val="6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2~3 分钟自动解除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462272"/>
            <a:ext cx="10874959" cy="1700784"/>
          </a:xfrm>
          <a:prstGeom prst="rect">
            <a:avLst/>
          </a:prstGeom>
          <a:solidFill>
            <a:srgbClr val="12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最后定下来的节奏（写死在配置文件里）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102352"/>
            <a:ext cx="1959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6~9</a:t>
            </a:r>
            <a:r>
              <a:rPr sz="1050" b="0" i="0">
                <a:solidFill>
                  <a:srgbClr val="B9C0C7"/>
                </a:solidFill>
                <a:latin typeface="微软雅黑"/>
                <a:ea typeface="微软雅黑"/>
                <a:cs typeface="微软雅黑"/>
              </a:rPr>
              <a:t> 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504688"/>
            <a:ext cx="19591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3AB"/>
                </a:solidFill>
                <a:latin typeface="微软雅黑"/>
                <a:ea typeface="微软雅黑"/>
                <a:cs typeface="微软雅黑"/>
              </a:rPr>
              <a:t>每次请求间隔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9897" y="5102352"/>
            <a:ext cx="1959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r>
              <a:rPr sz="1050" b="0" i="0">
                <a:solidFill>
                  <a:srgbClr val="B9C0C7"/>
                </a:solidFill>
                <a:latin typeface="微软雅黑"/>
                <a:ea typeface="微软雅黑"/>
                <a:cs typeface="微软雅黑"/>
              </a:rPr>
              <a:t> 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9897" y="5504688"/>
            <a:ext cx="19591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3AB"/>
                </a:solidFill>
                <a:latin typeface="微软雅黑"/>
                <a:ea typeface="微软雅黑"/>
                <a:cs typeface="微软雅黑"/>
              </a:rPr>
              <a:t>主动休息一次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1881" y="5102352"/>
            <a:ext cx="8229" cy="640080"/>
          </a:xfrm>
          <a:prstGeom prst="rect">
            <a:avLst/>
          </a:prstGeom>
          <a:solidFill>
            <a:srgbClr val="2B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0530" y="5102352"/>
            <a:ext cx="1959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180</a:t>
            </a:r>
            <a:r>
              <a:rPr sz="1050" b="0" i="0">
                <a:solidFill>
                  <a:srgbClr val="B9C0C7"/>
                </a:solidFill>
                <a:latin typeface="微软雅黑"/>
                <a:ea typeface="微软雅黑"/>
                <a:cs typeface="微软雅黑"/>
              </a:rPr>
              <a:t> 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0530" y="5504688"/>
            <a:ext cx="19591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3AB"/>
                </a:solidFill>
                <a:latin typeface="微软雅黑"/>
                <a:ea typeface="微软雅黑"/>
                <a:cs typeface="微软雅黑"/>
              </a:rPr>
              <a:t>每次休息时长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42514" y="5102352"/>
            <a:ext cx="8229" cy="640080"/>
          </a:xfrm>
          <a:prstGeom prst="rect">
            <a:avLst/>
          </a:prstGeom>
          <a:solidFill>
            <a:srgbClr val="2B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1164" y="5102352"/>
            <a:ext cx="1959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2.0~2.1</a:t>
            </a:r>
            <a:r>
              <a:rPr sz="1050" b="0" i="0">
                <a:solidFill>
                  <a:srgbClr val="B9C0C7"/>
                </a:solidFill>
                <a:latin typeface="微软雅黑"/>
                <a:ea typeface="微软雅黑"/>
                <a:cs typeface="微软雅黑"/>
              </a:rPr>
              <a:t> 部/分钟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1164" y="5504688"/>
            <a:ext cx="19591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3AB"/>
                </a:solidFill>
                <a:latin typeface="微软雅黑"/>
                <a:ea typeface="微软雅黑"/>
                <a:cs typeface="微软雅黑"/>
              </a:rPr>
              <a:t>实测稳定速度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3148" y="5102352"/>
            <a:ext cx="8229" cy="640080"/>
          </a:xfrm>
          <a:prstGeom prst="rect">
            <a:avLst/>
          </a:prstGeom>
          <a:solidFill>
            <a:srgbClr val="2B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797" y="5102352"/>
            <a:ext cx="19591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  <a:r>
              <a:rPr sz="1050" b="0" i="0">
                <a:solidFill>
                  <a:srgbClr val="B9C0C7"/>
                </a:solidFill>
                <a:latin typeface="微软雅黑"/>
                <a:ea typeface="微软雅黑"/>
                <a:cs typeface="微软雅黑"/>
              </a:rPr>
              <a:t> 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797" y="5504688"/>
            <a:ext cx="19591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3AB"/>
                </a:solidFill>
                <a:latin typeface="微软雅黑"/>
                <a:ea typeface="微软雅黑"/>
                <a:cs typeface="微软雅黑"/>
              </a:rPr>
              <a:t>整夜运行的失败数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3781" y="5102352"/>
            <a:ext cx="8229" cy="640080"/>
          </a:xfrm>
          <a:prstGeom prst="rect">
            <a:avLst/>
          </a:prstGeom>
          <a:solidFill>
            <a:srgbClr val="2B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" y="5815583"/>
            <a:ext cx="102531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AA3AB"/>
                </a:solidFill>
                <a:latin typeface="微软雅黑"/>
                <a:ea typeface="微软雅黑"/>
                <a:cs typeface="微软雅黑"/>
              </a:rPr>
              <a:t>代价是慢：抓满 1000 部要一整天；换来的是整夜连续运行 0 条失败。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CLEAN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清洗与特征工程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把数据库里的原始记录，变成两张可以直接拿来做分析和建模的宽表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5358384" cy="1261872"/>
          </a:xfrm>
          <a:prstGeom prst="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analysis_movies.csv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1052 行 × 60 列，一行一部作品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资料 + 评分分布 + 每部短评的聚合结果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72768"/>
            <a:ext cx="5358384" cy="1261872"/>
          </a:xfrm>
          <a:prstGeom prst="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7556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analysis_comments.csv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139696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4695 行 × 26 列，一行一条短评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原文 + 清洗文本 + 文本特征 + 时间拆解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45536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清洗做了什么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511296"/>
            <a:ext cx="5358384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94176"/>
            <a:ext cx="535838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SQLite 里 year / votes 是文本，统一转成数字再参与计算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评分统一成 2 位小数，缺失值与 0 分开处理，不混为一谈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类型、国家按分隔符拆成列表，再做 Top15 的 one-hot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年限换算成年代，评价人数取对数，避免长尾压平坐标轴</a:t>
            </a:r>
          </a:p>
          <a:p>
            <a:pPr algn="l">
              <a:lnSpc>
                <a:spcPct val="142000"/>
              </a:lnSpc>
              <a:spcAft>
                <a:spcPts val="10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短评正文去表情、去多余空白，另存一列保留原文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541264"/>
            <a:ext cx="5358384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669279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脚本：analysis/01_build_dataset.py（只用标准库，可重跑）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45536"/>
            <a:ext cx="5358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生成了哪些特征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511296"/>
            <a:ext cx="5358384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694176"/>
            <a:ext cx="535838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作品级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　· good_rate / bad_rate（好评率、差评率）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　· polarization = 五星占比 − 一星占比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　· log_votes、duration_min、decade、is_top250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短评级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　· 字数、标点个数、问号 / 省略号 / 表情有无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　· 星级标签、发布时间拆成 年 / 月、IP 归属地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聚合级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　· 每部作品的短评数、平均字数、平均星级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数据质量自检：6 项全部通过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每一条都可以在数据库里复现，不是口头保证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3511296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54864" cy="2057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8366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1901952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五星到一星占比之和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0591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偏离 100% 超过 1.2 个百分点的：0 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827" y="1572768"/>
            <a:ext cx="3511296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827" y="1572768"/>
            <a:ext cx="54864" cy="2057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6571" y="188366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4043" y="1901952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平均分与评分分布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6571" y="2450591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两者同进同退，0 个例外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1572768"/>
            <a:ext cx="3511296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9288" y="1572768"/>
            <a:ext cx="54864" cy="2057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88366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1901952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短评关键字段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450591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正文 / 时间 / 作者名 / 作者 id 空值：0 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13048"/>
            <a:ext cx="3511296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813048"/>
            <a:ext cx="54864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2394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4142232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每部作品的短评条数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690872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最小值 = 最大值 = 5（覆盖 939 部）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8827" y="3813048"/>
            <a:ext cx="3511296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8827" y="3813048"/>
            <a:ext cx="54864" cy="2057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6571" y="412394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4043" y="4142232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数据库完整性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6571" y="4690872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PRAGMA integrity_check = 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9288" y="3813048"/>
            <a:ext cx="3511296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19288" y="3813048"/>
            <a:ext cx="54864" cy="20574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4123944"/>
            <a:ext cx="3035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4504" y="4142232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抽样人工核对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4690872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与豆瓣页面逐字比对一致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可视化页面：六屏可切换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ECharts 5.5.1 + 原生 HTML/CSS/JS，全部本地化，双击 index.html 即可离线演示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08 / 16</a:t>
            </a:r>
          </a:p>
        </p:txBody>
      </p:sp>
      <p:pic>
        <p:nvPicPr>
          <p:cNvPr id="8" name="Picture 7" descr="六屏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87" y="1572768"/>
            <a:ext cx="10485120" cy="3931920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" y="5614416"/>
            <a:ext cx="1812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01 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0861" y="5614416"/>
            <a:ext cx="1812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02 类型与年代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3354" y="5614416"/>
            <a:ext cx="1812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03 国家与地区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5614416"/>
            <a:ext cx="1812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04 短评口碑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8340" y="5614416"/>
            <a:ext cx="1812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05 文本建模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834" y="5614416"/>
            <a:ext cx="1812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06 榜单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167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顶部编号导航切换，200 毫秒淡入；每屏都是“一句结论 + 若干图表”的结构，不用滚动、不用点击图例。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读图 · 类型与年代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截图来自我们自己的页面，不是示意图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09 / 16</a:t>
            </a:r>
          </a:p>
        </p:txBody>
      </p:sp>
      <p:pic>
        <p:nvPicPr>
          <p:cNvPr id="8" name="Picture 7" descr="_shot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5658"/>
            <a:ext cx="6949439" cy="3909059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882128" y="1572768"/>
            <a:ext cx="3651199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82128" y="1572768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4" y="1792224"/>
            <a:ext cx="3212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剧情占了一半以上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4" y="2176272"/>
            <a:ext cx="321228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591 部，占全部作品的 56.2% —— 高分影视的“主流”就是剧情片。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3145536"/>
            <a:ext cx="3651199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82128" y="3145536"/>
            <a:ext cx="54864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3364991"/>
            <a:ext cx="3212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年代平均分几乎没有差别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4" y="3749039"/>
            <a:ext cx="321228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八个十年都在 9.17~9.38 之间，说明这不是“老片更好”。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4718304"/>
            <a:ext cx="3651199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8" y="4718304"/>
            <a:ext cx="54864" cy="1417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4" y="4937760"/>
            <a:ext cx="32122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2010s 与 2020s 略低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4" y="5321808"/>
            <a:ext cx="321228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不是质量下降，而是这两个年代的作品数最多，把均值拉平了。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读图 · 国家与短评口碑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左：作品的国家与地区分布　右：短评的星级与高频词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  <p:pic>
        <p:nvPicPr>
          <p:cNvPr id="8" name="Picture 7" descr="_shot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4482"/>
            <a:ext cx="5358384" cy="3014091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pic>
        <p:nvPicPr>
          <p:cNvPr id="9" name="Picture 8" descr="_shot_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74482"/>
            <a:ext cx="5358384" cy="3014091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4681728"/>
            <a:ext cx="5358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03 国家与地区 · 45 个国家和地区、1297 个国籍名额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681728"/>
            <a:ext cx="5358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04 短评口碑 · 4695 条短评的星级与高频词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102352"/>
            <a:ext cx="5358384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285232"/>
            <a:ext cx="4919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合拍片会被重复计数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632704"/>
            <a:ext cx="49194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美国 374、中国大陆 218…… 各国相加是 1297，比作品数 1052 多 —— 因为一部合拍片每个参与国都算一次。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5102352"/>
            <a:ext cx="5358384" cy="1188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5" y="5285232"/>
            <a:ext cx="4919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好评多，差评写得长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5632704"/>
            <a:ext cx="49194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5 星占 56.46%、4 星占 31.86%，两者合计 88.3%；而 1~2 星的中位字数明显更长。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三个发现，和一个差点讲错的假信号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每个结论都指向具体的图，不接受“感觉上”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6309360" cy="4434840"/>
          </a:xfrm>
          <a:prstGeom prst="rect">
            <a:avLst/>
          </a:prstGeom>
          <a:solidFill>
            <a:srgbClr val="12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83664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7FD1C4"/>
                </a:solidFill>
                <a:latin typeface="微软雅黑"/>
                <a:ea typeface="微软雅黑"/>
                <a:cs typeface="微软雅黑"/>
              </a:rPr>
              <a:t>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7744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FD1C4"/>
                </a:solidFill>
                <a:latin typeface="Arial"/>
                <a:ea typeface="Arial"/>
                <a:cs typeface="Arial"/>
              </a:rPr>
              <a:t>01</a:t>
            </a: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　346 部高分作品没有热度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24912"/>
            <a:ext cx="52303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C6CDD4"/>
                </a:solidFill>
                <a:latin typeface="微软雅黑"/>
                <a:ea typeface="微软雅黑"/>
                <a:cs typeface="微软雅黑"/>
              </a:rPr>
              <a:t>评分 9 分以上、评价人数不足 10 万的，占全库 36.7%。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419856"/>
            <a:ext cx="5577840" cy="10058"/>
          </a:xfrm>
          <a:prstGeom prst="rect">
            <a:avLst/>
          </a:prstGeom>
          <a:solidFill>
            <a:srgbClr val="2B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8444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FD1C4"/>
                </a:solidFill>
                <a:latin typeface="Arial"/>
                <a:ea typeface="Arial"/>
                <a:cs typeface="Arial"/>
              </a:rPr>
              <a:t>02</a:t>
            </a: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　“高分”更像口味而不是共识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52303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C6CDD4"/>
                </a:solidFill>
                <a:latin typeface="微软雅黑"/>
                <a:ea typeface="微软雅黑"/>
                <a:cs typeface="微软雅黑"/>
              </a:rPr>
              <a:t>9 分作品里评价人数中位数只有 1 万多，样本越少越容易冲高。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626864"/>
            <a:ext cx="5577840" cy="10058"/>
          </a:xfrm>
          <a:prstGeom prst="rect">
            <a:avLst/>
          </a:prstGeom>
          <a:solidFill>
            <a:srgbClr val="2B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791456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FD1C4"/>
                </a:solidFill>
                <a:latin typeface="Arial"/>
                <a:ea typeface="Arial"/>
                <a:cs typeface="Arial"/>
              </a:rPr>
              <a:t>03</a:t>
            </a: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　短评的态度是“弱信号”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38928"/>
            <a:ext cx="52303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C6CDD4"/>
                </a:solidFill>
                <a:latin typeface="微软雅黑"/>
                <a:ea typeface="微软雅黑"/>
                <a:cs typeface="微软雅黑"/>
              </a:rPr>
              <a:t>文本能区分 5 星和 1~2 星（AUC 0.700），但分不开 4 星和 5 星（0.623）。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2048" y="1572768"/>
            <a:ext cx="4291279" cy="4434840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1572768"/>
            <a:ext cx="4291279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901952"/>
            <a:ext cx="36694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假信号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2377440"/>
            <a:ext cx="36694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大屏上 1990s / 2000s 的平均分只有 2.72 / 5.13，看起来像“老片更差”。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3529584"/>
            <a:ext cx="36694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真实原因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3877056"/>
            <a:ext cx="366948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这两个年代分别只有 11/38、21/38 部抓到了评分分布；全库缺评分的 110 部里，44 部挤在这两个只占作品总数 7% 的年代。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2944" y="5175504"/>
            <a:ext cx="3669487" cy="566928"/>
          </a:xfrm>
          <a:prstGeom prst="rect">
            <a:avLst/>
          </a:prstGeom>
          <a:solidFill>
            <a:srgbClr val="FF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7536" y="5321807"/>
            <a:ext cx="3340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教训：每张图先问一句“分母是谁”。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建模任务：为什么不用“3 星以上即好评”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标签怎么定，决定了后面所有数字有没有意义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5358384" cy="2121408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5358384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4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原始标签：3 星以上算好评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22576"/>
            <a:ext cx="48097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在这份数据上是 98.4% : 1.6%（4539 : 75）—— 什么都不看、全猜“好评”就有 98.4% 的准确率。</a:t>
            </a:r>
          </a:p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这样的标签没有信息量，模型好坏都测不出来。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72768"/>
            <a:ext cx="5358384" cy="2121408"/>
          </a:xfrm>
          <a:prstGeom prst="rect">
            <a:avLst/>
          </a:prstGeom>
          <a:solidFill>
            <a:srgbClr val="ED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72768"/>
            <a:ext cx="5358384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83664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改用：5 星 vs 4 星及以下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22576"/>
            <a:ext cx="48097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比例是 57.5% : 42.5%（2651 : 1963），基线从 98.4% 降到 57.5% —— 模型每提高一个点都是真本事。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可用样本 4612 条（去掉 81 条没打星、2 条空文本）。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86784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评估三件套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370832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572000"/>
            <a:ext cx="3511296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57200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773168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5 折交叉验证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5120640"/>
            <a:ext cx="30723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StratifiedKFold，随机种子 42，每一折都保持类别比例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827" y="4572000"/>
            <a:ext cx="3511296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827" y="4572000"/>
            <a:ext cx="54864" cy="1554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8283" y="4773168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指标全部 out-of-fold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8283" y="5120640"/>
            <a:ext cx="30723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每个样本的预测都来自没见过它的那一折，不偷看训练集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9288" y="4572000"/>
            <a:ext cx="3511296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9288" y="4572000"/>
            <a:ext cx="54864" cy="15544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4773168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永远同时报基线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5120640"/>
            <a:ext cx="30723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多数类基线 + 两条“不看文本”的基线，否则数字没有参照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七个模型的成绩单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同一套 5 折交叉验证、同一批 4612 条样本，指标全部 out-of-fold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72768"/>
          <a:ext cx="6675118" cy="24505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70555"/>
                <a:gridCol w="1201521"/>
                <a:gridCol w="1201521"/>
                <a:gridCol w="1201521"/>
              </a:tblGrid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91440" marR="91440" marT="18288" marB="18288" anchor="ctr"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准确率</a:t>
                      </a:r>
                    </a:p>
                  </a:txBody>
                  <a:tcPr marL="91440" marR="91440" marT="18288" marB="18288" anchor="ctr"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macro-F1</a:t>
                      </a:r>
                    </a:p>
                  </a:txBody>
                  <a:tcPr marL="91440" marR="91440" marT="18288" marB="18288" anchor="ctr"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AUC</a:t>
                      </a:r>
                    </a:p>
                  </a:txBody>
                  <a:tcPr marL="91440" marR="91440" marT="18288" marB="18288" anchor="ctr">
                    <a:solidFill>
                      <a:srgbClr val="12161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216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词袋 (1,2) + 线性 SVM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0.5752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0.5655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0.6009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216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词袋 (1,2) + 逻辑回归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0.5880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0.5803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0.6212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216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词频 (1,2) + 朴素贝叶斯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0.5987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0.6224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216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 (2,3) + 线性 SVM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0.5939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0.5829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0.6237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216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 (2,3) + 逻辑回归　← 最好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0.6060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0.5990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0.6465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216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 + 字拼接 + 线性 SVM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0.5930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0.5818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0.6223</a:t>
                      </a:r>
                    </a:p>
                  </a:txBody>
                  <a:tcPr marL="91440" marR="91440" marT="18288" marB="18288" anchor="ctr">
                    <a:solidFill>
                      <a:srgbClr val="F4F6F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2161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 + 字拼接 + 逻辑回归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0.6067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454D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0.5991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563E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0.6449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242816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两条“不看文本”的参照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590288"/>
            <a:ext cx="667512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690872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全部猜 5 星（多数类基线）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468172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7C858E"/>
                </a:solidFill>
                <a:latin typeface="Arial"/>
                <a:ea typeface="Arial"/>
                <a:cs typeface="Arial"/>
              </a:rPr>
              <a:t>0.5748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4700016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什么都不看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102352"/>
            <a:ext cx="667512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20293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同片其他短评的多数票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51937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DC2626"/>
                </a:solidFill>
                <a:latin typeface="Arial"/>
                <a:ea typeface="Arial"/>
                <a:cs typeface="Arial"/>
              </a:rPr>
              <a:t>0.6123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5212080"/>
            <a:ext cx="12984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不看文本，反而更高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87568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注意：同片多数票比我们最好的文本模型还高 0.6 个百分点 —— 这个结果我们没有藏，它说明“同伴怎么看”比“文本怎么说”更有效。</a:t>
            </a:r>
          </a:p>
        </p:txBody>
      </p:sp>
      <p:pic>
        <p:nvPicPr>
          <p:cNvPr id="19" name="Picture 18" descr="fig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8" y="1696679"/>
            <a:ext cx="3925519" cy="3684097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7607808" y="5614416"/>
            <a:ext cx="3925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主任务 ROC 曲线：模型确实跑在随机线之上，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但离“能用”还差得远。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边界在哪里：文本能分开什么，分不开什么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把“5 星 vs 4 星及以下”这条线换成别的线，模型能力立刻现形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  <p:pic>
        <p:nvPicPr>
          <p:cNvPr id="8" name="Picture 7" descr="fig1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65564"/>
            <a:ext cx="6903720" cy="2631927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pic>
        <p:nvPicPr>
          <p:cNvPr id="9" name="Picture 8" descr="fig2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312013"/>
            <a:ext cx="3742639" cy="1539029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58368" y="4773168"/>
            <a:ext cx="54864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75488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态度差距越大，越分得开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4773168"/>
            <a:ext cx="6492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5 星 vs 1~2 星 AUC 0.700，5 星 vs 3 星 0.718，而 5 星 vs 4 星只有 0.623。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285231"/>
            <a:ext cx="54864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26694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相邻的 4 星与 5 星，文本上本就模糊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5285231"/>
            <a:ext cx="6492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这是标注本身的主观性，不是模型不行。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797296"/>
            <a:ext cx="54864" cy="3840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77900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3 星 vs 1~2 星 AUC 0.515 ≈ 瞎猜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5797296"/>
            <a:ext cx="6492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样本只有 467 条，且两类人的用词高度重叠。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文本里真正的信号是什么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模型权重最高的词，告诉我们的其实是中文影评的写法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  <p:pic>
        <p:nvPicPr>
          <p:cNvPr id="8" name="Picture 7" descr="fig3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29" y="1572768"/>
            <a:ext cx="6125517" cy="3145536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pic>
        <p:nvPicPr>
          <p:cNvPr id="9" name="Picture 8" descr="fig4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7" y="1890882"/>
            <a:ext cx="4382719" cy="2509306"/>
          </a:xfrm>
          <a:prstGeom prst="rect">
            <a:avLst/>
          </a:prstGeom>
          <a:ln w="9525">
            <a:solidFill>
              <a:srgbClr val="E4E7EB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58368" y="4882896"/>
            <a:ext cx="10874959" cy="1389888"/>
          </a:xfrm>
          <a:prstGeom prst="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882896"/>
            <a:ext cx="64008" cy="13898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5084064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最反直觉的一点：差评靠的是“礼貌的转折”，不是脏话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5449824"/>
            <a:ext cx="1025316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负向权重最高的字组是“，但”“其实”“有点”“还是”，而不是“难看”“垃圾”。中文影评习惯欲扬先抑，模型学到的是句式结构；另外 5 星的中位字数是 38，2 星是 84 —— 差评写得更长。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图上“五星”那根特别长的条是标签泄漏：150 条短评（3.25%）直接提到了星级，全部剔除后 AUC 从 0.6465 掉到 0.6425，结论不变。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03504"/>
            <a:ext cx="1087495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我们做了什么、发现了什么、哪里还没做好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74959" cy="1005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豆瓣高分影视作品 · 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4527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7C858E"/>
                </a:solidFill>
                <a:latin typeface="微软雅黑"/>
                <a:ea typeface="微软雅黑"/>
                <a:cs typeface="微软雅黑"/>
              </a:rP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10874959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64008" cy="1225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7393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做完了什么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1773936"/>
            <a:ext cx="749167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从零写了免登录爬虫，稳定跑完 1052 部作品、4695 条短评</a:t>
            </a:r>
          </a:p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两张分析宽表 + 一套六屏离线可视化页面</a:t>
            </a:r>
          </a:p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7 个模型横向对比，全部指标 out-of-fold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62656"/>
            <a:ext cx="10874959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962656"/>
            <a:ext cx="64008" cy="1225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6382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发现了什么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163824"/>
            <a:ext cx="749167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短评文本里确实有态度信号，但是弱信号</a:t>
            </a:r>
          </a:p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判题材（动画 vs 剧情 AUC 0.805）远比判态度容易</a:t>
            </a:r>
          </a:p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“高分”不等于“共识”：346 部 9 分作品热度不足 10 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52544"/>
            <a:ext cx="10874959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352544"/>
            <a:ext cx="64008" cy="1225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537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哪里还能更好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553712"/>
            <a:ext cx="749167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110 部作品缺评分分布，两个年代的均值因此失真</a:t>
            </a:r>
          </a:p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每部只取了 5 条短评，样本偏“热门”，存在选择偏差</a:t>
            </a:r>
          </a:p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150" b="0" i="0">
                <a:solidFill>
                  <a:srgbClr val="454D55"/>
                </a:solidFill>
                <a:latin typeface="微软雅黑"/>
                <a:ea typeface="微软雅黑"/>
                <a:cs typeface="微软雅黑"/>
              </a:rPr>
              <a:t>· 没做超参数搜索，也没试预训练语言模型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760719"/>
            <a:ext cx="10874959" cy="822960"/>
          </a:xfrm>
          <a:prstGeom prst="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760719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943599"/>
            <a:ext cx="7680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2161B"/>
                </a:solidFill>
                <a:latin typeface="微软雅黑"/>
                <a:ea typeface="微软雅黑"/>
                <a:cs typeface="微软雅黑"/>
              </a:rPr>
              <a:t>同一套文本、同一套方法，只把任务从“判态度”换成“判题材”，准确率从 60.6% 升到 78.5%。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487" y="5980175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谢谢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