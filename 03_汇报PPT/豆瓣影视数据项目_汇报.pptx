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914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数据采集与分析 · 课程项目汇报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21408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豆瓣高分影视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99232"/>
            <a:ext cx="106372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数据采集与文本分析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5993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从写爬虫、做可视化大屏，到用短评文本预测星级的一次完整实践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736592"/>
            <a:ext cx="3108960" cy="2743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56048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1052</a:t>
            </a: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部作品　</a:t>
            </a:r>
            <a:r>
              <a:rPr sz="20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4695</a:t>
            </a: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条短评　</a:t>
            </a:r>
            <a:r>
              <a:rPr sz="20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9</a:t>
            </a: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张大屏图表　</a:t>
            </a:r>
            <a:r>
              <a:rPr sz="20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个模型对照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汇报人：＿＿＿＿＿　　班级：＿＿＿＿＿　　日期：＿＿＿＿＿＿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一页看懂这个项目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四个阶段各自独立可复现：采集 → 清洗 → 可视化 → 建模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2467279" cy="1874519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467279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093975"/>
            <a:ext cx="20100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1052</a:t>
            </a: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 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807207"/>
            <a:ext cx="2010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高分影视作品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136391"/>
            <a:ext cx="2010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候选池 1131 部
电影 539 / 剧集 513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551" y="1874519"/>
            <a:ext cx="2467279" cy="1874519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0551" y="1874519"/>
            <a:ext cx="2467279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6583" y="2093975"/>
            <a:ext cx="20100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4695</a:t>
            </a: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6583" y="2807207"/>
            <a:ext cx="2010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热门短评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6583" y="3136391"/>
            <a:ext cx="2010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覆盖 939 部作品
每部固定 5 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3863" y="1874519"/>
            <a:ext cx="2467279" cy="1874519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1874519"/>
            <a:ext cx="2467279" cy="411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093975"/>
            <a:ext cx="20100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9</a:t>
            </a: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 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2807207"/>
            <a:ext cx="2010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可视化大屏图表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3136391"/>
            <a:ext cx="2010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ECharts + HTML/CSS/JS
离线双击即可演示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47175" y="1874519"/>
            <a:ext cx="2467279" cy="1874519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47175" y="1874519"/>
            <a:ext cx="2467279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3207" y="2093975"/>
            <a:ext cx="20100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 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3207" y="2807207"/>
            <a:ext cx="2010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模型横向对照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3207" y="3136391"/>
            <a:ext cx="2010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 折交叉验证
全部指标 out-of-fold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160520"/>
            <a:ext cx="10637215" cy="8412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160520"/>
            <a:ext cx="45720" cy="8412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15968"/>
            <a:ext cx="99971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一句话结论：</a:t>
            </a:r>
            <a:r>
              <a:rPr sz="16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短评文本里确实有“态度”信息，但弱得不足以做实用分类器——最好的模型 AUC 0.647、准确率 60.6%，只比“全猜 5 星”高 3.1 个百分点。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项目目标与四个阶段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2480995" cy="2377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480995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1975104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2615184"/>
            <a:ext cx="20237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3017520"/>
            <a:ext cx="20237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自己写爬虫抓豆瓣公开页面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3639312"/>
            <a:ext cx="20237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1052 部作品 + 4695 条短评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9947" y="2743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5979" y="1783080"/>
            <a:ext cx="2480995" cy="2377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5979" y="1783080"/>
            <a:ext cx="24809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3723" y="1975104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723" y="2615184"/>
            <a:ext cx="20237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清洗与特征工程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3723" y="3017520"/>
            <a:ext cx="20237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整理成能直接分析的宽表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3723" y="3639312"/>
            <a:ext cx="20237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1052×60 列 / 4695×26 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8687" y="2743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4719" y="1783080"/>
            <a:ext cx="2480995" cy="2377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4719" y="1783080"/>
            <a:ext cx="2480995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2463" y="1975104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2463" y="2615184"/>
            <a:ext cx="20237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可视化大屏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2463" y="3017520"/>
            <a:ext cx="20237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ECharts + HTML/CSS/JS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2463" y="3639312"/>
            <a:ext cx="20237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9 张图 + 6 张 KPI 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77427" y="2743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33459" y="1783080"/>
            <a:ext cx="2480995" cy="2377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3459" y="1783080"/>
            <a:ext cx="2480995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203" y="1975104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203" y="2615184"/>
            <a:ext cx="20237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文本建模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203" y="3017520"/>
            <a:ext cx="20237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短评文本能否预测星级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203" y="3639312"/>
            <a:ext cx="20237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7 模型对照 + 6 张诊断图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434840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为什么值得做：</a:t>
            </a:r>
            <a:r>
              <a:rPr sz="15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豆瓣短评文本短、口语化、还天然带标签（星级），是练文本分类的理想数据；但要真正回答“它能不能预测星级”，必须用交叉验证和基线把自己说服一遍。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12064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本项目最大的特点：最后一节的结论是否定性的 —— 我们没有停在“跑出 97% 准确率”就收工。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STEP 1 · 数据采集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抓到了什么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采集时间 2026-10-13 ~ 10-14，共约 1 天（含夜间连续运行）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2467279" cy="1828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467279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093975"/>
            <a:ext cx="20100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1131</a:t>
            </a: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 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807207"/>
            <a:ext cx="2010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发现到的候选作品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136391"/>
            <a:ext cx="2010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按类型 × 地区 × 年份
的查询矩阵枚举出来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551" y="1874519"/>
            <a:ext cx="2467279" cy="1828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0551" y="1874519"/>
            <a:ext cx="2467279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6583" y="2093975"/>
            <a:ext cx="20100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1052</a:t>
            </a: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 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6583" y="2807207"/>
            <a:ext cx="2010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抓完整资料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6583" y="3136391"/>
            <a:ext cx="2010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电影 539 / 剧集 513
（豆瓣发现接口混在一起）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3863" y="1874519"/>
            <a:ext cx="2467279" cy="1828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1874519"/>
            <a:ext cx="2467279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093975"/>
            <a:ext cx="20100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942</a:t>
            </a: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 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2807207"/>
            <a:ext cx="2010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连评分分布也抓到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3136391"/>
            <a:ext cx="2010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五星~一星占比
五数之和全部≈100%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47175" y="1874519"/>
            <a:ext cx="2467279" cy="1828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47175" y="1874519"/>
            <a:ext cx="2467279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3207" y="2093975"/>
            <a:ext cx="20100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4695</a:t>
            </a: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  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3207" y="2807207"/>
            <a:ext cx="2010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热门短评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3207" y="3136391"/>
            <a:ext cx="2010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覆盖 939 部作品
每部固定 5 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977639"/>
            <a:ext cx="10637215" cy="1371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4160520"/>
            <a:ext cx="100519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为什么每部只有 5 条短评？</a:t>
            </a:r>
            <a:r>
              <a:rPr sz="14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　电脑端详情页每页只展示 5 条热门短评，想翻更多条立刻撞验证码墙；所以本项目的数据定位是“每部作品的口碑样本”，不是全量短评库。</a:t>
            </a:r>
          </a:p>
          <a:p>
            <a:pPr algn="l">
              <a:lnSpc>
                <a:spcPct val="135000"/>
              </a:lnSpc>
            </a:pPr>
            <a:r>
              <a:rPr sz="14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影响：</a:t>
            </a:r>
            <a:r>
              <a:rPr sz="14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平均每部 4.9 条，“同一部电影内部”的统计会很不稳定，这一点在建模阶段变成了一个重要的对照（见第 14 页）。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STEP 1 · 数据采集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怎么抓的：免登录 + 刻意放慢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3721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300"/>
              </a:spcAft>
            </a:pPr>
            <a:r>
              <a:rPr sz="15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5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免登录：全程只用公开页面，代码里没有任何账号密码、不需要 Cookie</a:t>
            </a:r>
          </a:p>
          <a:p>
            <a:pPr algn="l">
              <a:lnSpc>
                <a:spcPct val="122000"/>
              </a:lnSpc>
              <a:spcAft>
                <a:spcPts val="1300"/>
              </a:spcAft>
            </a:pPr>
            <a:r>
              <a:rPr sz="15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5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双通道：电脑端详情页（资料全、含评分分布）＋ 手机端接口（快，但拿不到五星占比）</a:t>
            </a:r>
          </a:p>
          <a:p>
            <a:pPr algn="l">
              <a:lnSpc>
                <a:spcPct val="122000"/>
              </a:lnSpc>
              <a:spcAft>
                <a:spcPts val="1300"/>
              </a:spcAft>
            </a:pPr>
            <a:r>
              <a:rPr sz="15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5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刻意放慢：每 9 次请求主动休息 180 秒，请求间隔 6~9 秒，约 2 部/分钟</a:t>
            </a:r>
          </a:p>
          <a:p>
            <a:pPr algn="l">
              <a:lnSpc>
                <a:spcPct val="122000"/>
              </a:lnSpc>
              <a:spcAft>
                <a:spcPts val="1300"/>
              </a:spcAft>
            </a:pPr>
            <a:r>
              <a:rPr sz="15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      └ </a:t>
            </a:r>
            <a:r>
              <a:rPr sz="14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为了快而调小间隔，一撞墙就是 2~3 分钟（验证码）甚至半小时（全站 403）的停摆，反而更慢</a:t>
            </a:r>
          </a:p>
          <a:p>
            <a:pPr algn="l">
              <a:lnSpc>
                <a:spcPct val="122000"/>
              </a:lnSpc>
              <a:spcAft>
                <a:spcPts val="1300"/>
              </a:spcAft>
            </a:pPr>
            <a:r>
              <a:rPr sz="15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5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断点续爬：所有进度落 SQLite，进程中断后重跑会自动跳过已完成的条目</a:t>
            </a:r>
          </a:p>
          <a:p>
            <a:pPr algn="l">
              <a:lnSpc>
                <a:spcPct val="122000"/>
              </a:lnSpc>
              <a:spcAft>
                <a:spcPts val="1300"/>
              </a:spcAft>
            </a:pPr>
            <a:r>
              <a:rPr sz="15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5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遇到 403 时换出口网络恢复，而不是硬刚 —— 一夜连跑期间失败 0 条、失效 0 条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1063721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892040"/>
            <a:ext cx="45720" cy="10515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99971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工程上的取舍：</a:t>
            </a:r>
            <a:r>
              <a:rPr sz="14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“慢”是主动设计的。整个采集过程里最贵的不是请求，而是被限流后的等待，所以宁可把节奏写死在配置里。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STEP 1 · 数据采集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数据质量：自检全通过，缺口也说清楚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5181447" cy="35661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5181447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46328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质量自检（6 项全部通过）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463280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五星~一星占比之和偏离 100% 超过 1.2pp 的：0 部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rating 与评分分布永远同进同退：0 例外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短评正文 / 时间 / 作者空值：0 条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每部短评条数 min = max = 5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数据库 PRAGMA integrity_check = ok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抽样与豆瓣页面逐字核对一致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91640"/>
            <a:ext cx="5181447" cy="35661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691640"/>
            <a:ext cx="5181447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901952"/>
            <a:ext cx="46328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已知缺口（主动交代）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95728"/>
            <a:ext cx="463280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110 部有资料但没有评分分布（早期走手机端接口）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189 部完全没抓完（候选池里排在后面）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113 部有资料但没有短评（冷门条目页面没展示）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短评每部只有 5 条（设计如此）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9 部 fail_count=1，都是撞验证码墙留下的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1052 部里只有 539 部是“电影”，513 部是剧集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406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所有缺口都在《数据说明.md》里逐条写明，并给了补齐命令 —— 不藏问题。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STEP 2 · 清洗与特征工程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从原始数据到两张分析表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9844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只用 Python 标准库，不依赖 pandas —— 打开就能跑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4846320" cy="3200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8463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analysis_movies.csv</a:t>
            </a: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　1052 × 60 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05456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类型：Top15 类型 one-hot + 类型数量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时间：上映年份、年代分档（1950s~2020s）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热度：评价人数取对数、分档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口碑形态：good_rate / bad_rate / polarization / talk_ratio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榜单：是否 Top250、具体名次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短评聚合：条数、平均星、标准差、平均字数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783080"/>
            <a:ext cx="5516575" cy="3200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783080"/>
            <a:ext cx="551657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993392"/>
            <a:ext cx="49679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analysis_comments.csv</a:t>
            </a: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　4695 × 26 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505456"/>
            <a:ext cx="49679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content_clean：去链接 / @某人 / #话题#，只留中文数字字母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文本形态：字数、感叹号、问号、省略号、emoji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时间拆解：发表时间 → 年 / 月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标签：label_top（5星 vs ≤4星）、label_pos（差评/中评/好评）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166360"/>
            <a:ext cx="10637215" cy="960120"/>
          </a:xfrm>
          <a:prstGeom prst="rect">
            <a:avLst/>
          </a:prstGeom>
          <a:solidFill>
            <a:srgbClr val="2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321808"/>
            <a:ext cx="99971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清洗时踩的两个坑：</a:t>
            </a:r>
            <a:r>
              <a:rPr sz="14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① SQLite 里 year / votes 存的是文本，直接算除法会报 TypeError；② Top250 的编号有“#1”和“No.1”两种写法，只匹配后者会全军覆没。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STEP 3 · 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可视化大屏（ECharts + HTML/CSS/JS）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320391" y="1335024"/>
            <a:ext cx="7550912" cy="4279392"/>
          </a:xfrm>
          <a:prstGeom prst="rect">
            <a:avLst/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预览截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967" y="1371600"/>
            <a:ext cx="747776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742432"/>
            <a:ext cx="106372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双击 web/index.html 即可演示：</a:t>
            </a: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ECharts 与地图数据全部本地化，离线、免安装、不需要服务器。配色集中在 CSS 的 :root 变量里，每张图是一个独立函数，方便自己改 UI。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STEP 3 · 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大屏上读出来的三个发现（和一个假信号）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3375050" cy="2148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337505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847088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发现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139696"/>
            <a:ext cx="29178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剧情一骑绝尘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633472"/>
            <a:ext cx="291785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591 部作品带“剧情”标签，是第二名的 2.2 倍；
1980 年代是年代高峰（219 部）。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8322" y="1645920"/>
            <a:ext cx="3375050" cy="2148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8322" y="1645920"/>
            <a:ext cx="337505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4354" y="1847088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发现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4354" y="2139696"/>
            <a:ext cx="29178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高分 ≠ 高热度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4354" y="2633472"/>
            <a:ext cx="291785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评分与评价人数总体正相关，但
9 分以上不足 10 万人评价的有 346 部，占全库三分之一。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9404" y="1645920"/>
            <a:ext cx="3375050" cy="2148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9404" y="1645920"/>
            <a:ext cx="3375050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5436" y="1847088"/>
            <a:ext cx="29178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发现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5436" y="2139696"/>
            <a:ext cx="29178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大家在“描述作品”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5436" y="2633472"/>
            <a:ext cx="291785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词云高频词是 剧情 / 故事 / 喜欢 / 演员 /
镜头 / 感动 / 结局 —— 这埋下了建模的伏笔。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23360"/>
            <a:ext cx="10637215" cy="1600200"/>
          </a:xfrm>
          <a:prstGeom prst="rect">
            <a:avLst/>
          </a:prstGeom>
          <a:solidFill>
            <a:srgbClr val="2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23360"/>
            <a:ext cx="45720" cy="16002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06240"/>
            <a:ext cx="99971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一个“假信号”（值得单独讲）：</a:t>
            </a:r>
            <a:r>
              <a:rPr sz="15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大屏上 1990s / 2000s 的平均分只有 </a:t>
            </a:r>
            <a:r>
              <a:rPr sz="15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2.72 / 5.13</a:t>
            </a:r>
            <a:r>
              <a:rPr sz="15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，看起来像“那个年代片子差”。查下去才发现：这两个年代分别只有 </a:t>
            </a:r>
            <a:r>
              <a:rPr sz="15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11/38、21/38</a:t>
            </a:r>
            <a:r>
              <a:rPr sz="15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 部抓到了评分分布，全库缺评分的 110 部里有 44 部挤在这两个只占作品总数 7% 的年代里。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教训：</a:t>
            </a:r>
            <a:r>
              <a:rPr sz="14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大屏上的每一张图，都要先问一句“它的分母是谁”。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STEP 4 · 文本建模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问题怎么定的：标签与评估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5181447" cy="24688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5181447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46328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先排除了一个不能用的标签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40864"/>
            <a:ext cx="463280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想用“≥3 星 = 喜欢”：正负比 98.4% : 1.6%（4539 : 75）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→ 全猜“喜欢”就有 98.4% 准确率，任何指标都失去意义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改用“5 星 vs ≤4 星”：57.5% : 42.5%（2651 : 1963）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→ 接近平衡，macro-F1 与 AUC 才有解释力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181447" cy="24688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645920"/>
            <a:ext cx="5181447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847088"/>
            <a:ext cx="46328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评估三件套（自我约束）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40864"/>
            <a:ext cx="463280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5 折分层交叉验证，指标全部 out-of-fold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      └ </a:t>
            </a:r>
            <a:r>
              <a:rPr sz="11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每条样本都被“没见过它”的模型预测过一次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同时报 AUC：不被类别比例和阈值绑架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每个任务都写明多数类基线，不许拿 60% 邀功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343400"/>
            <a:ext cx="10637215" cy="14630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343400"/>
            <a:ext cx="45720" cy="14630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999713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主任务：</a:t>
            </a:r>
            <a:r>
              <a:rPr sz="15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只看一条短评的文字，判断它是 5 星（力荐）还是 ≤4 星。可用样本 </a:t>
            </a:r>
            <a:r>
              <a:rPr sz="15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4612 条</a:t>
            </a:r>
            <a:r>
              <a:rPr sz="15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（4695 条去掉 81 条没打星的、2 条正文为空的）。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副任务：</a:t>
            </a:r>
            <a:r>
              <a:rPr sz="15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① 差评 / 中评 / 好评 三分类；② 短评 → 电影题材分类；③ 换不同“好评分界线”做诊断。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STEP 4 · 文本建模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七种模型横向对比：都很弱，而且弱得很一致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45920"/>
          <a:ext cx="10637212" cy="3054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05445"/>
                <a:gridCol w="1810589"/>
                <a:gridCol w="1810589"/>
                <a:gridCol w="1810589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73152" marR="73152" marT="9144" marB="9144" anchor="ctr">
                    <a:solidFill>
                      <a:srgbClr val="15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准确率</a:t>
                      </a:r>
                    </a:p>
                  </a:txBody>
                  <a:tcPr marL="73152" marR="73152" marT="9144" marB="9144" anchor="ctr">
                    <a:solidFill>
                      <a:srgbClr val="15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macro-F1</a:t>
                      </a:r>
                    </a:p>
                  </a:txBody>
                  <a:tcPr marL="73152" marR="73152" marT="9144" marB="9144" anchor="ctr">
                    <a:solidFill>
                      <a:srgbClr val="15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AUC</a:t>
                      </a:r>
                    </a:p>
                  </a:txBody>
                  <a:tcPr marL="73152" marR="73152" marT="9144" marB="9144" anchor="ctr">
                    <a:solidFill>
                      <a:srgbClr val="152338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TF-IDF 词(1,2) + 线性 SVM</a:t>
                      </a:r>
                    </a:p>
                  </a:txBody>
                  <a:tcPr marL="73152" marR="73152" marT="9144" marB="9144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0.5752</a:t>
                      </a:r>
                    </a:p>
                  </a:txBody>
                  <a:tcPr marL="73152" marR="73152" marT="9144" marB="9144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0.5655</a:t>
                      </a:r>
                    </a:p>
                  </a:txBody>
                  <a:tcPr marL="73152" marR="73152" marT="9144" marB="9144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0.6009</a:t>
                      </a:r>
                    </a:p>
                  </a:txBody>
                  <a:tcPr marL="73152" marR="73152" marT="9144" marB="9144" anchor="ctr">
                    <a:solidFill>
                      <a:srgbClr val="1E293B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TF-IDF 词(1,2) + 逻辑回归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0.5880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0.5803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0.6212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词频(1,2) + 朴素贝叶斯</a:t>
                      </a:r>
                    </a:p>
                  </a:txBody>
                  <a:tcPr marL="73152" marR="73152" marT="9144" marB="9144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0.5987</a:t>
                      </a:r>
                    </a:p>
                  </a:txBody>
                  <a:tcPr marL="73152" marR="73152" marT="9144" marB="9144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0.5800</a:t>
                      </a:r>
                    </a:p>
                  </a:txBody>
                  <a:tcPr marL="73152" marR="73152" marT="9144" marB="9144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0.6224</a:t>
                      </a:r>
                    </a:p>
                  </a:txBody>
                  <a:tcPr marL="73152" marR="73152" marT="9144" marB="9144" anchor="ctr">
                    <a:solidFill>
                      <a:srgbClr val="1E293B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TF-IDF 字(2,3) + 线性 SVM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0.5939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0.5829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0.6237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TF-IDF 字(2,3) + 逻辑回归</a:t>
                      </a:r>
                    </a:p>
                  </a:txBody>
                  <a:tcPr marL="73152" marR="73152" marT="9144" marB="9144" anchor="ctr">
                    <a:solidFill>
                      <a:srgbClr val="133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0.6060</a:t>
                      </a:r>
                    </a:p>
                  </a:txBody>
                  <a:tcPr marL="73152" marR="73152" marT="9144" marB="9144" anchor="ctr">
                    <a:solidFill>
                      <a:srgbClr val="133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0.5990</a:t>
                      </a:r>
                    </a:p>
                  </a:txBody>
                  <a:tcPr marL="73152" marR="73152" marT="9144" marB="9144" anchor="ctr">
                    <a:solidFill>
                      <a:srgbClr val="133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0.6465</a:t>
                      </a:r>
                    </a:p>
                  </a:txBody>
                  <a:tcPr marL="73152" marR="73152" marT="9144" marB="9144" anchor="ctr">
                    <a:solidFill>
                      <a:srgbClr val="133B45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 + 字拼接 + 线性 SVM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0.5930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0.5818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0.6223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 + 字拼接 + 逻辑回归</a:t>
                      </a:r>
                    </a:p>
                  </a:txBody>
                  <a:tcPr marL="73152" marR="73152" marT="9144" marB="9144" anchor="ctr">
                    <a:solidFill>
                      <a:srgbClr val="133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0.6067</a:t>
                      </a:r>
                    </a:p>
                  </a:txBody>
                  <a:tcPr marL="73152" marR="73152" marT="9144" marB="9144" anchor="ctr">
                    <a:solidFill>
                      <a:srgbClr val="133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0.5991</a:t>
                      </a:r>
                    </a:p>
                  </a:txBody>
                  <a:tcPr marL="73152" marR="73152" marT="9144" marB="9144" anchor="ctr">
                    <a:solidFill>
                      <a:srgbClr val="133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0.6449</a:t>
                      </a:r>
                    </a:p>
                  </a:txBody>
                  <a:tcPr marL="73152" marR="73152" marT="9144" marB="9144" anchor="ctr">
                    <a:solidFill>
                      <a:srgbClr val="133B45"/>
                    </a:solidFill>
                  </a:tcPr>
                </a:tc>
              </a:tr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—— 多数类基线（全猜 5 星）——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0.5748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0.5000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956048"/>
            <a:ext cx="106372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字级 n-gram 比词袋好（AUC 0.647 vs 0.621）：中文短评口语化、新词多，jieba 切不准反而丢信息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词 + 字拼接并没有更好：两者提供的其实是同一份信息，堆在一起只是增加维度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4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所有模型都在 0.57~0.61 之间爬 → 不是参数没调好，而是信息量本身就到顶了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STEP 4 · 关键实验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换个分界线，模型的预测力就变了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" y="2107753"/>
            <a:ext cx="7388352" cy="2861949"/>
          </a:xfrm>
          <a:prstGeom prst="rect">
            <a:avLst/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44329"/>
            <a:ext cx="7315200" cy="27887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600200"/>
            <a:ext cx="3550615" cy="5669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600200"/>
            <a:ext cx="3657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22208" y="1700784"/>
            <a:ext cx="3184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5星 vs 1-2星　</a:t>
            </a: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AUC 0.700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258568"/>
            <a:ext cx="3550615" cy="5669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2258568"/>
            <a:ext cx="36576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22208" y="2359152"/>
            <a:ext cx="3184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5星 vs 3星　</a:t>
            </a:r>
            <a:r>
              <a:rPr sz="125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AUC 0.718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916936"/>
            <a:ext cx="3550615" cy="5669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2916936"/>
            <a:ext cx="36576" cy="5669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3017520"/>
            <a:ext cx="3184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5星 vs 4星（相邻档）　</a:t>
            </a: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AUC 0.623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575304"/>
            <a:ext cx="3550615" cy="5669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3575304"/>
            <a:ext cx="36576" cy="5669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3675888"/>
            <a:ext cx="3184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3星 vs 1-2星　</a:t>
            </a:r>
            <a:r>
              <a:rPr sz="12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AUC 0.515 ≈ 瞎猜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4288536"/>
            <a:ext cx="3550615" cy="1737360"/>
          </a:xfrm>
          <a:prstGeom prst="rect">
            <a:avLst/>
          </a:prstGeom>
          <a:solidFill>
            <a:srgbClr val="2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4471416"/>
            <a:ext cx="31482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AUC 随“态度差距”单调上升。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隔着两档比有 0.718，挨着比掉到 0.623，而 3星 vs 1-2星 只有 0.515。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结论：不是模型没用，是“4 星和 5 星”在文本上本来就分不开 —— 这是标注本身的主观性。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STEP 4 · 模型学到了什么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差评靠的是句式，不是脏话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" y="1537056"/>
            <a:ext cx="7388352" cy="3829606"/>
          </a:xfrm>
          <a:prstGeom prst="rect">
            <a:avLst/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3632"/>
            <a:ext cx="7315200" cy="37564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536192"/>
            <a:ext cx="3093415" cy="1828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536192"/>
            <a:ext cx="3093415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719072"/>
            <a:ext cx="27276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最像「≤4 星」的特征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女主 · 了， · 无聊 · 这剧 · 观众 · ，但 · 人物 · 套路 · 故事 · 有点 · 其实 · 还是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3493008"/>
            <a:ext cx="3093415" cy="1947672"/>
          </a:xfrm>
          <a:prstGeom prst="rect">
            <a:avLst/>
          </a:prstGeom>
          <a:solidFill>
            <a:srgbClr val="2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657600"/>
            <a:ext cx="2727655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中文影评的差评是“欲扬先抑”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权重最高的不是“难看/垃圾”，而是“，但 / 其实 / 有点 / 还是”这类转折连词 —— 先夸两句，再“但是……”。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模型抓到的其实是句式结构，而不是情感词。于是“其实还不错，但结局差点意思”和“其实很棒”字面距离极近。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STEP 4 · 两个对照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不看文本的基线，把文本模型比下去了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00200"/>
          <a:ext cx="6492238" cy="2084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3753"/>
                <a:gridCol w="948304"/>
                <a:gridCol w="2480181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参照</a:t>
                      </a:r>
                    </a:p>
                  </a:txBody>
                  <a:tcPr marL="73152" marR="73152" marT="9144" marB="9144" anchor="ctr">
                    <a:solidFill>
                      <a:srgbClr val="15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准确率</a:t>
                      </a:r>
                    </a:p>
                  </a:txBody>
                  <a:tcPr marL="73152" marR="73152" marT="9144" marB="9144" anchor="ctr">
                    <a:solidFill>
                      <a:srgbClr val="152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73152" marR="73152" marT="9144" marB="9144" anchor="ctr">
                    <a:solidFill>
                      <a:srgbClr val="15233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恒猜 5 星</a:t>
                      </a:r>
                    </a:p>
                  </a:txBody>
                  <a:tcPr marL="73152" marR="73152" marT="9144" marB="9144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0.5748</a:t>
                      </a:r>
                    </a:p>
                  </a:txBody>
                  <a:tcPr marL="73152" marR="73152" marT="9144" marB="9144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绝对下限</a:t>
                      </a:r>
                    </a:p>
                  </a:txBody>
                  <a:tcPr marL="73152" marR="73152" marT="9144" marB="9144" anchor="ctr"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只看“这是哪部电影”（id one-hot + 逻辑回归）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0.5768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几乎等于没看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同片其他短评的多数票（严格留一）</a:t>
                      </a:r>
                    </a:p>
                  </a:txBody>
                  <a:tcPr marL="73152" marR="73152" marT="9144" marB="9144" anchor="ctr">
                    <a:solidFill>
                      <a:srgbClr val="133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0.6123</a:t>
                      </a:r>
                    </a:p>
                  </a:txBody>
                  <a:tcPr marL="73152" marR="73152" marT="9144" marB="9144" anchor="ctr">
                    <a:solidFill>
                      <a:srgbClr val="133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完全不读文本，只数同片别人打了几星</a:t>
                      </a:r>
                    </a:p>
                  </a:txBody>
                  <a:tcPr marL="73152" marR="73152" marT="9144" marB="9144" anchor="ctr">
                    <a:solidFill>
                      <a:srgbClr val="133B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文本模型（主任务）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0.6060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E2E8F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没能跑赢上面那个规则</a:t>
                      </a:r>
                    </a:p>
                  </a:txBody>
                  <a:tcPr marL="73152" marR="73152" marT="9144" marB="9144" anchor="ctr">
                    <a:solidFill>
                      <a:srgbClr val="18223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931920"/>
            <a:ext cx="6492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必须诚实说：</a:t>
            </a:r>
            <a:r>
              <a:rPr sz="14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文本模型没有跑赢一个完全不读文本的规则。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但那个规则需要“同片已有若干条短评”，而我们的数据每部平均只有 4.9 条（939 部里 118 部全是 5 星、39 部一条 5 星都没有），它利用的其实是“这批高分电影口碑都不错”这个先验。它的意义是告诉我们：短评文本没有提供额外的判别信息。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572768"/>
            <a:ext cx="3779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副任务：短评 → 电影题材</a:t>
            </a:r>
          </a:p>
        </p:txBody>
      </p:sp>
      <p:sp>
        <p:nvSpPr>
          <p:cNvPr id="8" name="Rectangle 7"/>
          <p:cNvSpPr/>
          <p:nvPr/>
        </p:nvSpPr>
        <p:spPr>
          <a:xfrm>
            <a:off x="7598664" y="2245756"/>
            <a:ext cx="3852367" cy="1955008"/>
          </a:xfrm>
          <a:prstGeom prst="rect">
            <a:avLst/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5_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282332"/>
            <a:ext cx="3779215" cy="1881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35240" y="4709160"/>
            <a:ext cx="3779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动画 vs 剧情：准确率 78.5%、AUC 0.805（+28.5pp）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同一批文本、同一个模型：判题材（+0.285）远好于判态度（+0.031）。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475488"/>
            <a:ext cx="54864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4572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76656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结论与反思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3375050" cy="2103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337505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783080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212848"/>
            <a:ext cx="29178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这是一个弱信号任务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670048"/>
            <a:ext cx="29178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最好的模型 AUC 0.647、准确率 60.6%，只比多数类基线高 3.1pp，且打不过“同片多数票”。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8322" y="1600200"/>
            <a:ext cx="3375050" cy="2103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8322" y="1600200"/>
            <a:ext cx="337505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4354" y="1783080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4354" y="2212848"/>
            <a:ext cx="29178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弱的原因在数据，不在模型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4354" y="2670048"/>
            <a:ext cx="29178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相邻星级在文本上几乎无差别；差评被礼貌转折句式包裹；好评:差评 = 55:1。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9404" y="1600200"/>
            <a:ext cx="3375050" cy="2103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9404" y="1600200"/>
            <a:ext cx="3375050" cy="4572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5436" y="1783080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472B6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5436" y="2212848"/>
            <a:ext cx="29178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文本更擅长判题材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5436" y="2670048"/>
            <a:ext cx="29178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判题材 +28.5pp，判态度 +3.1pp —— 人们写影评时主要在描述作品，而不是表达打分。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913632"/>
            <a:ext cx="1063721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913632"/>
            <a:ext cx="45720" cy="1005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078224"/>
            <a:ext cx="99971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这个项目的价值：</a:t>
            </a:r>
            <a:r>
              <a:rPr sz="150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不是“做出了一个 97% 的情感分析器”，而是把问题问清楚了 —— 一个看起来很自然的任务，到底能不能做、天花板在哪、为什么。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3892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继续做的方向：</a:t>
            </a:r>
            <a:r>
              <a:rPr sz="14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换任务比换模型有用（题材分类、是否剧透、是否提到导演）；补采差评把 55:1 的样本做均衡；不要用星级当“喜欢”，改用同一部电影内部的相对评分。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谢谢，请老师和同学批评指正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3794760"/>
            <a:ext cx="5943600" cy="1600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977639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现场可演示的三件交付物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web/index.html　—　可视化大屏（离线双击即可）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export/douban_movies.xlsx　—　1052 部作品 + 4695 条短评</a:t>
            </a:r>
          </a:p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E2E8F0"/>
                </a:solidFill>
                <a:latin typeface="微软雅黑"/>
                <a:ea typeface="微软雅黑"/>
                <a:cs typeface="微软雅黑"/>
              </a:rPr>
              <a:t>analysis/报告.md　+　建模报告.md　—　完整图文报告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